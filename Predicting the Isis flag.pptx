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4"/>
  </p:sldMasterIdLst>
  <p:notesMasterIdLst>
    <p:notesMasterId r:id="rId18"/>
  </p:notesMasterIdLst>
  <p:sldIdLst>
    <p:sldId id="267" r:id="rId5"/>
    <p:sldId id="268" r:id="rId6"/>
    <p:sldId id="269" r:id="rId7"/>
    <p:sldId id="270" r:id="rId8"/>
    <p:sldId id="264" r:id="rId9"/>
    <p:sldId id="256" r:id="rId10"/>
    <p:sldId id="257" r:id="rId11"/>
    <p:sldId id="258" r:id="rId12"/>
    <p:sldId id="259" r:id="rId13"/>
    <p:sldId id="260" r:id="rId14"/>
    <p:sldId id="261" r:id="rId15"/>
    <p:sldId id="262" r:id="rId16"/>
    <p:sldId id="26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28B316-C117-544E-A585-743DE693E28E}" v="1" dt="2026-10-25T11:40:59.243"/>
    <p1510:client id="{AE76C0C6-877C-3D48-AA75-2CAA23813542}" v="104" dt="2026-10-25T11:43:41.6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4" autoAdjust="0"/>
    <p:restoredTop sz="94658"/>
  </p:normalViewPr>
  <p:slideViewPr>
    <p:cSldViewPr snapToGrid="0">
      <p:cViewPr>
        <p:scale>
          <a:sx n="78" d="100"/>
          <a:sy n="78" d="100"/>
        </p:scale>
        <p:origin x="632" y="5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BD4181-A21A-E341-A831-45F748E360CC}" type="datetimeFigureOut">
              <a:rPr lang="en-US" smtClean="0"/>
              <a:t>10/25/26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DC5541-7FF0-934C-876B-AD2386355622}" type="slidenum">
              <a:rPr lang="en-US" smtClean="0"/>
              <a:t>‹#›</a:t>
            </a:fld>
            <a:endParaRPr lang="en-US"/>
          </a:p>
        </p:txBody>
      </p:sp>
    </p:spTree>
    <p:extLst>
      <p:ext uri="{BB962C8B-B14F-4D97-AF65-F5344CB8AC3E}">
        <p14:creationId xmlns:p14="http://schemas.microsoft.com/office/powerpoint/2010/main" val="2783535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5DC5541-7FF0-934C-876B-AD2386355622}" type="slidenum">
              <a:rPr lang="en-US" smtClean="0"/>
              <a:t>5</a:t>
            </a:fld>
            <a:endParaRPr lang="en-US"/>
          </a:p>
        </p:txBody>
      </p:sp>
    </p:spTree>
    <p:extLst>
      <p:ext uri="{BB962C8B-B14F-4D97-AF65-F5344CB8AC3E}">
        <p14:creationId xmlns:p14="http://schemas.microsoft.com/office/powerpoint/2010/main" val="3271255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EBFC0-3874-2A69-13A0-FD77B51404F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952FB93F-AD32-DC7E-CDC8-D4EE6F9B20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236B7E6-8136-17BE-15B9-54AB711DA026}"/>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5" name="Footer Placeholder 4">
            <a:extLst>
              <a:ext uri="{FF2B5EF4-FFF2-40B4-BE49-F238E27FC236}">
                <a16:creationId xmlns:a16="http://schemas.microsoft.com/office/drawing/2014/main" id="{B04A876C-8EE6-CA11-AC21-E8E1EDF958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C5A52E-AA6A-32DD-8B94-2841FC6A9160}"/>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1084865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43AD3-3CCD-85A6-B779-D4C819DFF77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53DB49D-0E11-5432-0874-213E8F8B8A9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3850FDF-D9E8-ADC2-1FEF-71BE0FF77114}"/>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5" name="Footer Placeholder 4">
            <a:extLst>
              <a:ext uri="{FF2B5EF4-FFF2-40B4-BE49-F238E27FC236}">
                <a16:creationId xmlns:a16="http://schemas.microsoft.com/office/drawing/2014/main" id="{E45FA371-A230-B87E-6D2F-33AB479880F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613433-B133-9400-8CC3-8D6794FD7981}"/>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3162507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0161B-F63F-75AC-537E-56BDFD38CB1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08B3EF4C-949D-7391-86C1-F0025A43AF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DC23A81-E4EB-7089-33E2-13FB9609230D}"/>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5" name="Footer Placeholder 4">
            <a:extLst>
              <a:ext uri="{FF2B5EF4-FFF2-40B4-BE49-F238E27FC236}">
                <a16:creationId xmlns:a16="http://schemas.microsoft.com/office/drawing/2014/main" id="{B59F2D16-B61C-7A56-1808-0DC8A82F4FD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F14C77-A497-950F-1FA4-456133B8EAC2}"/>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3041255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EC378-7B52-36D5-E533-D8424625930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2644C84-1DFA-D794-5255-F5643D6749A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1FA5081C-DC0B-3A0D-1C30-0289D1881C2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2F8D13F3-FF3A-F60A-1E26-9787B5A13A83}"/>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6" name="Footer Placeholder 5">
            <a:extLst>
              <a:ext uri="{FF2B5EF4-FFF2-40B4-BE49-F238E27FC236}">
                <a16:creationId xmlns:a16="http://schemas.microsoft.com/office/drawing/2014/main" id="{772FEDCB-B530-8F21-2A6D-BA573A877E1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77ED2F7-221B-BA40-D0D5-BF7CB405C324}"/>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2110662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78126-4DB7-2ED4-2207-1F061EDD7C97}"/>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A963851A-22A6-888F-1E23-81EDBE2135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30ADD52-B02C-649D-AC97-1AD04838248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E11401C-D78D-F281-E83B-34A6605976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070B7BD-CB98-2CDB-D696-6633E2098C6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00676202-E7E2-2E04-3F03-2F40347A3FA3}"/>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8" name="Footer Placeholder 7">
            <a:extLst>
              <a:ext uri="{FF2B5EF4-FFF2-40B4-BE49-F238E27FC236}">
                <a16:creationId xmlns:a16="http://schemas.microsoft.com/office/drawing/2014/main" id="{B109C40C-8CF0-138B-AF37-747AEB66F98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DEC9CA3-AF00-AC9F-430E-2E00066D4805}"/>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3481438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B86D5-7F78-D6A3-EDC6-09588ADC1A6F}"/>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0D345370-C264-708D-C82F-93503199EFFF}"/>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4" name="Footer Placeholder 3">
            <a:extLst>
              <a:ext uri="{FF2B5EF4-FFF2-40B4-BE49-F238E27FC236}">
                <a16:creationId xmlns:a16="http://schemas.microsoft.com/office/drawing/2014/main" id="{B1E421DB-881B-2A89-15FA-34D5AB799F9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75E8AC0-20E8-011B-9DBE-6A362862A045}"/>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4294715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5DCC9B-2AF2-9100-3CE5-F8B215BD1A5B}"/>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3" name="Footer Placeholder 2">
            <a:extLst>
              <a:ext uri="{FF2B5EF4-FFF2-40B4-BE49-F238E27FC236}">
                <a16:creationId xmlns:a16="http://schemas.microsoft.com/office/drawing/2014/main" id="{0CF0133B-D805-8B74-A7E1-C2C00A4268E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F8759DB-23D3-A913-5754-32A3F68BA9D8}"/>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985898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C19F9-1663-1431-1D9D-CE21E29904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5D999BA-C979-8F97-99A7-7F4293D9D2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BB27FADD-6E29-DA43-0FDF-A014BDE3C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AC5210B-7DC2-61B8-5C59-20B0974A5909}"/>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6" name="Footer Placeholder 5">
            <a:extLst>
              <a:ext uri="{FF2B5EF4-FFF2-40B4-BE49-F238E27FC236}">
                <a16:creationId xmlns:a16="http://schemas.microsoft.com/office/drawing/2014/main" id="{0B6D3CDB-A97C-00A1-A4DD-AC113B9209B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ACB31B2-B853-FE04-6936-B98781B63E6E}"/>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533610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ECE1-CFF0-6654-7E06-1D1D3D9B57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62F02B9-EEA8-E400-36AA-F2AFF354323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DBAF417-D269-03A5-6BDC-9593F608AA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55B303-8A3E-0639-B974-4B4A7AE7CF37}"/>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6" name="Footer Placeholder 5">
            <a:extLst>
              <a:ext uri="{FF2B5EF4-FFF2-40B4-BE49-F238E27FC236}">
                <a16:creationId xmlns:a16="http://schemas.microsoft.com/office/drawing/2014/main" id="{D027C7E5-DA9C-3DDF-4D2C-7FEE4A08E03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C3A4FE5-C1DE-CEE6-5226-1A0BEB38D846}"/>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3355609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8671A-673C-2CF4-F94D-3B22F7CB0E6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9EAE2D8B-CA98-521A-40D3-FAA3428D41C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A4555A8-A8DB-BCA0-976A-D82C81A12CD4}"/>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5" name="Footer Placeholder 4">
            <a:extLst>
              <a:ext uri="{FF2B5EF4-FFF2-40B4-BE49-F238E27FC236}">
                <a16:creationId xmlns:a16="http://schemas.microsoft.com/office/drawing/2014/main" id="{DDA319D0-CEF3-2C89-2AA6-55B7ED007B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22FEF00-6658-85A9-5EDC-CA9A8AB99C5E}"/>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2344286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CF8CAD-2C2B-3EAB-AC6C-525BD4724BDF}"/>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728BD46-5A9D-BB74-F0E0-5DBCBC1EC5B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3C860CE-E4EC-68C8-5B5A-4CAB1BE45052}"/>
              </a:ext>
            </a:extLst>
          </p:cNvPr>
          <p:cNvSpPr>
            <a:spLocks noGrp="1"/>
          </p:cNvSpPr>
          <p:nvPr>
            <p:ph type="dt" sz="half" idx="10"/>
          </p:nvPr>
        </p:nvSpPr>
        <p:spPr/>
        <p:txBody>
          <a:bodyPr/>
          <a:lstStyle/>
          <a:p>
            <a:fld id="{0A64AB50-5E7C-48CF-A6D6-10A035A50904}" type="datetimeFigureOut">
              <a:rPr lang="en-GB" smtClean="0"/>
              <a:t>25/10/2026</a:t>
            </a:fld>
            <a:endParaRPr lang="en-GB"/>
          </a:p>
        </p:txBody>
      </p:sp>
      <p:sp>
        <p:nvSpPr>
          <p:cNvPr id="5" name="Footer Placeholder 4">
            <a:extLst>
              <a:ext uri="{FF2B5EF4-FFF2-40B4-BE49-F238E27FC236}">
                <a16:creationId xmlns:a16="http://schemas.microsoft.com/office/drawing/2014/main" id="{2AAC2BCA-B46E-04BF-8802-0ABEB14238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2B6EC8-A55A-57A7-6AD4-E4B2BA79A130}"/>
              </a:ext>
            </a:extLst>
          </p:cNvPr>
          <p:cNvSpPr>
            <a:spLocks noGrp="1"/>
          </p:cNvSpPr>
          <p:nvPr>
            <p:ph type="sldNum" sz="quarter" idx="12"/>
          </p:nvPr>
        </p:nvSpPr>
        <p:spPr/>
        <p:txBody>
          <a:bodyPr/>
          <a:lstStyle/>
          <a:p>
            <a:fld id="{67DE6FE7-4910-4086-8CCA-69BAD7E0C0A1}" type="slidenum">
              <a:rPr lang="en-GB" smtClean="0"/>
              <a:t>‹#›</a:t>
            </a:fld>
            <a:endParaRPr lang="en-GB"/>
          </a:p>
        </p:txBody>
      </p:sp>
    </p:spTree>
    <p:extLst>
      <p:ext uri="{BB962C8B-B14F-4D97-AF65-F5344CB8AC3E}">
        <p14:creationId xmlns:p14="http://schemas.microsoft.com/office/powerpoint/2010/main" val="4012125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5EA99-D02E-5DD9-6F07-12B8F0B120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0F1732A4-7743-C066-6851-0C7DB685B3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9192D67-31F0-C6BF-0159-169A93C5C7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64AB50-5E7C-48CF-A6D6-10A035A50904}" type="datetimeFigureOut">
              <a:rPr lang="en-GB" smtClean="0"/>
              <a:t>25/10/2026</a:t>
            </a:fld>
            <a:endParaRPr lang="en-GB"/>
          </a:p>
        </p:txBody>
      </p:sp>
      <p:sp>
        <p:nvSpPr>
          <p:cNvPr id="5" name="Footer Placeholder 4">
            <a:extLst>
              <a:ext uri="{FF2B5EF4-FFF2-40B4-BE49-F238E27FC236}">
                <a16:creationId xmlns:a16="http://schemas.microsoft.com/office/drawing/2014/main" id="{17ADA923-2A65-257B-A47E-EDDB8625A5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A2D3E54-623D-D540-554C-5CCB21D75F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DE6FE7-4910-4086-8CCA-69BAD7E0C0A1}" type="slidenum">
              <a:rPr lang="en-GB" smtClean="0"/>
              <a:t>‹#›</a:t>
            </a:fld>
            <a:endParaRPr lang="en-GB"/>
          </a:p>
        </p:txBody>
      </p:sp>
    </p:spTree>
    <p:extLst>
      <p:ext uri="{BB962C8B-B14F-4D97-AF65-F5344CB8AC3E}">
        <p14:creationId xmlns:p14="http://schemas.microsoft.com/office/powerpoint/2010/main" val="313055648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DA9EA-4DD3-FF0B-C1DD-D68B633A957B}"/>
              </a:ext>
            </a:extLst>
          </p:cNvPr>
          <p:cNvSpPr>
            <a:spLocks noGrp="1"/>
          </p:cNvSpPr>
          <p:nvPr>
            <p:ph type="ctrTitle"/>
          </p:nvPr>
        </p:nvSpPr>
        <p:spPr/>
        <p:txBody>
          <a:bodyPr/>
          <a:lstStyle/>
          <a:p>
            <a:r>
              <a:rPr lang="en-GB"/>
              <a:t>Handmade orderbook</a:t>
            </a:r>
          </a:p>
        </p:txBody>
      </p:sp>
      <p:sp>
        <p:nvSpPr>
          <p:cNvPr id="3" name="Subtitle 2">
            <a:extLst>
              <a:ext uri="{FF2B5EF4-FFF2-40B4-BE49-F238E27FC236}">
                <a16:creationId xmlns:a16="http://schemas.microsoft.com/office/drawing/2014/main" id="{7B8F5BE8-49E9-E22C-F5A9-ACFE19C5243D}"/>
              </a:ext>
            </a:extLst>
          </p:cNvPr>
          <p:cNvSpPr>
            <a:spLocks noGrp="1"/>
          </p:cNvSpPr>
          <p:nvPr>
            <p:ph type="subTitle" idx="1"/>
          </p:nvPr>
        </p:nvSpPr>
        <p:spPr/>
        <p:txBody>
          <a:bodyPr/>
          <a:lstStyle/>
          <a:p>
            <a:r>
              <a:rPr lang="en-GB"/>
              <a:t>Basically no AI used in the core order book (with exceptions for benchmarking, unit tests, etc.)</a:t>
            </a:r>
          </a:p>
        </p:txBody>
      </p:sp>
    </p:spTree>
    <p:extLst>
      <p:ext uri="{BB962C8B-B14F-4D97-AF65-F5344CB8AC3E}">
        <p14:creationId xmlns:p14="http://schemas.microsoft.com/office/powerpoint/2010/main" val="2974412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7DE26-CA1D-185E-7142-A345BBDCA694}"/>
              </a:ext>
            </a:extLst>
          </p:cNvPr>
          <p:cNvSpPr>
            <a:spLocks noGrp="1"/>
          </p:cNvSpPr>
          <p:nvPr>
            <p:ph type="title"/>
          </p:nvPr>
        </p:nvSpPr>
        <p:spPr/>
        <p:txBody>
          <a:bodyPr/>
          <a:lstStyle/>
          <a:p>
            <a:r>
              <a:rPr lang="en-GB"/>
              <a:t>Core design</a:t>
            </a:r>
          </a:p>
        </p:txBody>
      </p:sp>
      <p:sp>
        <p:nvSpPr>
          <p:cNvPr id="3" name="Content Placeholder 2">
            <a:extLst>
              <a:ext uri="{FF2B5EF4-FFF2-40B4-BE49-F238E27FC236}">
                <a16:creationId xmlns:a16="http://schemas.microsoft.com/office/drawing/2014/main" id="{CF140516-2B15-8410-7AAB-5F6FBC22B534}"/>
              </a:ext>
            </a:extLst>
          </p:cNvPr>
          <p:cNvSpPr>
            <a:spLocks noGrp="1"/>
          </p:cNvSpPr>
          <p:nvPr>
            <p:ph idx="1"/>
          </p:nvPr>
        </p:nvSpPr>
        <p:spPr/>
        <p:txBody>
          <a:bodyPr/>
          <a:lstStyle/>
          <a:p>
            <a:r>
              <a:rPr lang="en-GB"/>
              <a:t>Core order book in C++ for efficiency, can run upwards of 10M orders/sec (as only 100 price levels for our site).</a:t>
            </a:r>
          </a:p>
          <a:p>
            <a:r>
              <a:rPr lang="en-GB"/>
              <a:t>Two trees: limit buys/sells, each balanced AVL trees (led to a 70x performance improvement), each node is a different price with a linked list as data.</a:t>
            </a:r>
          </a:p>
          <a:p>
            <a:r>
              <a:rPr lang="en-GB"/>
              <a:t>Pointers kept for each order to allow for O(1) cancellation/order lookup for efficiency.</a:t>
            </a:r>
          </a:p>
          <a:p>
            <a:r>
              <a:rPr lang="en-GB"/>
              <a:t>Custom data structures made by hand (mostly because interesting/fun)</a:t>
            </a:r>
          </a:p>
        </p:txBody>
      </p:sp>
    </p:spTree>
    <p:extLst>
      <p:ext uri="{BB962C8B-B14F-4D97-AF65-F5344CB8AC3E}">
        <p14:creationId xmlns:p14="http://schemas.microsoft.com/office/powerpoint/2010/main" val="271046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B5217-079A-1158-A91D-537D88C79C10}"/>
              </a:ext>
            </a:extLst>
          </p:cNvPr>
          <p:cNvSpPr>
            <a:spLocks noGrp="1"/>
          </p:cNvSpPr>
          <p:nvPr>
            <p:ph type="title"/>
          </p:nvPr>
        </p:nvSpPr>
        <p:spPr/>
        <p:txBody>
          <a:bodyPr/>
          <a:lstStyle/>
          <a:p>
            <a:r>
              <a:rPr lang="en-GB"/>
              <a:t>Specific prediction mechanics</a:t>
            </a:r>
          </a:p>
        </p:txBody>
      </p:sp>
      <p:sp>
        <p:nvSpPr>
          <p:cNvPr id="3" name="Content Placeholder 2">
            <a:extLst>
              <a:ext uri="{FF2B5EF4-FFF2-40B4-BE49-F238E27FC236}">
                <a16:creationId xmlns:a16="http://schemas.microsoft.com/office/drawing/2014/main" id="{43DF0684-549C-F397-79AF-EBDB21821CA6}"/>
              </a:ext>
            </a:extLst>
          </p:cNvPr>
          <p:cNvSpPr>
            <a:spLocks noGrp="1"/>
          </p:cNvSpPr>
          <p:nvPr>
            <p:ph idx="1"/>
          </p:nvPr>
        </p:nvSpPr>
        <p:spPr/>
        <p:txBody>
          <a:bodyPr/>
          <a:lstStyle/>
          <a:p>
            <a:r>
              <a:rPr lang="en-GB"/>
              <a:t>Each option is traded as either YES or NO.</a:t>
            </a:r>
          </a:p>
          <a:p>
            <a:r>
              <a:rPr lang="en-GB"/>
              <a:t>The NO price is just 100-YES, so the market is actually just trading </a:t>
            </a:r>
            <a:r>
              <a:rPr lang="en-GB" err="1"/>
              <a:t>NOs.</a:t>
            </a:r>
            <a:endParaRPr lang="en-GB"/>
          </a:p>
          <a:p>
            <a:r>
              <a:rPr lang="en-GB"/>
              <a:t>All stored on the database using </a:t>
            </a:r>
            <a:r>
              <a:rPr lang="en-GB" err="1"/>
              <a:t>TigerData</a:t>
            </a:r>
            <a:r>
              <a:rPr lang="en-GB"/>
              <a:t>.</a:t>
            </a:r>
          </a:p>
        </p:txBody>
      </p:sp>
    </p:spTree>
    <p:extLst>
      <p:ext uri="{BB962C8B-B14F-4D97-AF65-F5344CB8AC3E}">
        <p14:creationId xmlns:p14="http://schemas.microsoft.com/office/powerpoint/2010/main" val="4238480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9BDAF-2CD2-B979-AA5B-4347DDC8BD65}"/>
              </a:ext>
            </a:extLst>
          </p:cNvPr>
          <p:cNvSpPr>
            <a:spLocks noGrp="1"/>
          </p:cNvSpPr>
          <p:nvPr>
            <p:ph type="title"/>
          </p:nvPr>
        </p:nvSpPr>
        <p:spPr/>
        <p:txBody>
          <a:bodyPr/>
          <a:lstStyle/>
          <a:p>
            <a:r>
              <a:rPr lang="en-US"/>
              <a:t>The Database </a:t>
            </a:r>
          </a:p>
        </p:txBody>
      </p:sp>
      <p:sp>
        <p:nvSpPr>
          <p:cNvPr id="3" name="Text Placeholder 2">
            <a:extLst>
              <a:ext uri="{FF2B5EF4-FFF2-40B4-BE49-F238E27FC236}">
                <a16:creationId xmlns:a16="http://schemas.microsoft.com/office/drawing/2014/main" id="{DCD9FB2A-F423-7AF3-42CD-DA44576447F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99561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9E438-BC72-3BB6-894E-02D654878C23}"/>
              </a:ext>
            </a:extLst>
          </p:cNvPr>
          <p:cNvSpPr>
            <a:spLocks noGrp="1"/>
          </p:cNvSpPr>
          <p:nvPr>
            <p:ph type="title"/>
          </p:nvPr>
        </p:nvSpPr>
        <p:spPr/>
        <p:txBody>
          <a:bodyPr/>
          <a:lstStyle/>
          <a:p>
            <a:r>
              <a:rPr lang="en-US"/>
              <a:t>DB Schema</a:t>
            </a:r>
          </a:p>
        </p:txBody>
      </p:sp>
      <p:pic>
        <p:nvPicPr>
          <p:cNvPr id="4" name="Content Placeholder 3">
            <a:extLst>
              <a:ext uri="{FF2B5EF4-FFF2-40B4-BE49-F238E27FC236}">
                <a16:creationId xmlns:a16="http://schemas.microsoft.com/office/drawing/2014/main" id="{C4862F48-B96B-4C1C-F96B-26508A1FD06B}"/>
              </a:ext>
            </a:extLst>
          </p:cNvPr>
          <p:cNvPicPr>
            <a:picLocks noGrp="1" noChangeAspect="1"/>
          </p:cNvPicPr>
          <p:nvPr>
            <p:ph idx="1"/>
          </p:nvPr>
        </p:nvPicPr>
        <p:blipFill>
          <a:blip r:embed="rId3"/>
          <a:stretch>
            <a:fillRect/>
          </a:stretch>
        </p:blipFill>
        <p:spPr>
          <a:xfrm>
            <a:off x="1498887" y="1411212"/>
            <a:ext cx="9194226" cy="5081663"/>
          </a:xfrm>
          <a:prstGeom prst="rect">
            <a:avLst/>
          </a:prstGeom>
        </p:spPr>
      </p:pic>
    </p:spTree>
    <p:extLst>
      <p:ext uri="{BB962C8B-B14F-4D97-AF65-F5344CB8AC3E}">
        <p14:creationId xmlns:p14="http://schemas.microsoft.com/office/powerpoint/2010/main" val="3002741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519B8-BDDB-D805-2456-2BE482A35209}"/>
              </a:ext>
            </a:extLst>
          </p:cNvPr>
          <p:cNvSpPr>
            <a:spLocks noGrp="1"/>
          </p:cNvSpPr>
          <p:nvPr>
            <p:ph type="ctrTitle"/>
          </p:nvPr>
        </p:nvSpPr>
        <p:spPr/>
        <p:txBody>
          <a:bodyPr/>
          <a:lstStyle/>
          <a:p>
            <a:r>
              <a:rPr lang="en-GB" b="1" dirty="0">
                <a:latin typeface="Helvetica" panose="020B0604020202020204" pitchFamily="34" charset="0"/>
                <a:cs typeface="Helvetica" panose="020B0604020202020204" pitchFamily="34" charset="0"/>
              </a:rPr>
              <a:t>Predicting the Isis flag</a:t>
            </a:r>
          </a:p>
        </p:txBody>
      </p:sp>
      <p:sp>
        <p:nvSpPr>
          <p:cNvPr id="3" name="Subtitle 2">
            <a:extLst>
              <a:ext uri="{FF2B5EF4-FFF2-40B4-BE49-F238E27FC236}">
                <a16:creationId xmlns:a16="http://schemas.microsoft.com/office/drawing/2014/main" id="{66AEEAE8-20CC-BAD7-F8FF-FB0842E94D5C}"/>
              </a:ext>
            </a:extLst>
          </p:cNvPr>
          <p:cNvSpPr>
            <a:spLocks noGrp="1"/>
          </p:cNvSpPr>
          <p:nvPr>
            <p:ph type="subTitle" idx="1"/>
          </p:nvPr>
        </p:nvSpPr>
        <p:spPr/>
        <p:txBody>
          <a:bodyPr/>
          <a:lstStyle/>
          <a:p>
            <a:r>
              <a:rPr lang="en-GB" dirty="0">
                <a:latin typeface="Helvetica" panose="020B0604020202020204" pitchFamily="34" charset="0"/>
                <a:cs typeface="Helvetica" panose="020B0604020202020204" pitchFamily="34" charset="0"/>
              </a:rPr>
              <a:t>Can tomorrow’s weather and the current flag tell us weather we can row tomorrow?</a:t>
            </a:r>
          </a:p>
        </p:txBody>
      </p:sp>
    </p:spTree>
    <p:extLst>
      <p:ext uri="{BB962C8B-B14F-4D97-AF65-F5344CB8AC3E}">
        <p14:creationId xmlns:p14="http://schemas.microsoft.com/office/powerpoint/2010/main" val="445783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9C958-9FAD-4B01-C44B-6E29B2FA5A09}"/>
              </a:ext>
            </a:extLst>
          </p:cNvPr>
          <p:cNvSpPr>
            <a:spLocks noGrp="1"/>
          </p:cNvSpPr>
          <p:nvPr>
            <p:ph type="title"/>
          </p:nvPr>
        </p:nvSpPr>
        <p:spPr/>
        <p:txBody>
          <a:bodyPr/>
          <a:lstStyle/>
          <a:p>
            <a:r>
              <a:rPr lang="en-GB" dirty="0"/>
              <a:t>The data input</a:t>
            </a:r>
          </a:p>
        </p:txBody>
      </p:sp>
      <p:sp>
        <p:nvSpPr>
          <p:cNvPr id="3" name="Content Placeholder 2">
            <a:extLst>
              <a:ext uri="{FF2B5EF4-FFF2-40B4-BE49-F238E27FC236}">
                <a16:creationId xmlns:a16="http://schemas.microsoft.com/office/drawing/2014/main" id="{DDF3C371-4506-CA0D-9B48-96B5880D4C42}"/>
              </a:ext>
            </a:extLst>
          </p:cNvPr>
          <p:cNvSpPr>
            <a:spLocks noGrp="1"/>
          </p:cNvSpPr>
          <p:nvPr>
            <p:ph idx="1"/>
          </p:nvPr>
        </p:nvSpPr>
        <p:spPr/>
        <p:txBody>
          <a:bodyPr/>
          <a:lstStyle/>
          <a:p>
            <a:r>
              <a:rPr lang="en-GB" dirty="0"/>
              <a:t>A reliable prediction for tomorrow’s weather at 07:00 on the Isis: Temperature, rain, wind speed &amp; direction, gusts, visibility, CAPE, WMO weather code. This data comes from the met office/the local Isis weather station</a:t>
            </a:r>
          </a:p>
          <a:p>
            <a:r>
              <a:rPr lang="en-GB" dirty="0"/>
              <a:t>Today’s OURC flag. This data comes from the official OURC website</a:t>
            </a:r>
          </a:p>
        </p:txBody>
      </p:sp>
    </p:spTree>
    <p:extLst>
      <p:ext uri="{BB962C8B-B14F-4D97-AF65-F5344CB8AC3E}">
        <p14:creationId xmlns:p14="http://schemas.microsoft.com/office/powerpoint/2010/main" val="1440444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The image is a timeline or calendar displaying different colored flags or markers for monitoring, with intervals marked in January, May, and September for the years 2024 to 2026, and additional colors for Green, Light Blue, Dark Blue, Amber, and Red.&#10;&#10;AI-generated content may be incorrect.">
            <a:extLst>
              <a:ext uri="{FF2B5EF4-FFF2-40B4-BE49-F238E27FC236}">
                <a16:creationId xmlns:a16="http://schemas.microsoft.com/office/drawing/2014/main" id="{26894F9C-9659-7085-63E3-85CABF82EC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1506982"/>
            <a:ext cx="10905066" cy="3844034"/>
          </a:xfrm>
          <a:prstGeom prst="rect">
            <a:avLst/>
          </a:prstGeom>
        </p:spPr>
      </p:pic>
    </p:spTree>
    <p:extLst>
      <p:ext uri="{BB962C8B-B14F-4D97-AF65-F5344CB8AC3E}">
        <p14:creationId xmlns:p14="http://schemas.microsoft.com/office/powerpoint/2010/main" val="2610546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EE3F7-8FE3-069A-9AD6-E4DD522E2A98}"/>
              </a:ext>
            </a:extLst>
          </p:cNvPr>
          <p:cNvSpPr>
            <a:spLocks noGrp="1"/>
          </p:cNvSpPr>
          <p:nvPr>
            <p:ph type="title"/>
          </p:nvPr>
        </p:nvSpPr>
        <p:spPr/>
        <p:txBody>
          <a:bodyPr/>
          <a:lstStyle/>
          <a:p>
            <a:r>
              <a:rPr lang="en-GB" dirty="0"/>
              <a:t>Building the design matrix </a:t>
            </a:r>
            <a:r>
              <a:rPr lang="en-GB" i="1" dirty="0"/>
              <a:t>X</a:t>
            </a:r>
            <a:endParaRPr lang="en-GB" dirty="0"/>
          </a:p>
        </p:txBody>
      </p:sp>
      <p:sp>
        <p:nvSpPr>
          <p:cNvPr id="3" name="Content Placeholder 2">
            <a:extLst>
              <a:ext uri="{FF2B5EF4-FFF2-40B4-BE49-F238E27FC236}">
                <a16:creationId xmlns:a16="http://schemas.microsoft.com/office/drawing/2014/main" id="{3B82142E-77A6-E70D-9A90-A7F4842C7268}"/>
              </a:ext>
            </a:extLst>
          </p:cNvPr>
          <p:cNvSpPr>
            <a:spLocks noGrp="1"/>
          </p:cNvSpPr>
          <p:nvPr>
            <p:ph idx="1"/>
          </p:nvPr>
        </p:nvSpPr>
        <p:spPr/>
        <p:txBody>
          <a:bodyPr/>
          <a:lstStyle/>
          <a:p>
            <a:r>
              <a:rPr lang="en-GB" dirty="0"/>
              <a:t>features(row, code flags) turns one day into one row of </a:t>
            </a:r>
            <a:r>
              <a:rPr lang="en-GB" i="1" dirty="0"/>
              <a:t>X</a:t>
            </a:r>
            <a:endParaRPr lang="en-GB" dirty="0"/>
          </a:p>
          <a:p>
            <a:endParaRPr lang="en-GB" dirty="0"/>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2784066E-E31E-8A1E-0145-3705AAA18EF1}"/>
                  </a:ext>
                </a:extLst>
              </p:cNvPr>
              <p:cNvGraphicFramePr>
                <a:graphicFrameLocks noGrp="1"/>
              </p:cNvGraphicFramePr>
              <p:nvPr>
                <p:extLst>
                  <p:ext uri="{D42A27DB-BD31-4B8C-83A1-F6EECF244321}">
                    <p14:modId xmlns:p14="http://schemas.microsoft.com/office/powerpoint/2010/main" val="2823422426"/>
                  </p:ext>
                </p:extLst>
              </p:nvPr>
            </p:nvGraphicFramePr>
            <p:xfrm>
              <a:off x="948267" y="2480733"/>
              <a:ext cx="8127999" cy="3855720"/>
            </p:xfrm>
            <a:graphic>
              <a:graphicData uri="http://schemas.openxmlformats.org/drawingml/2006/table">
                <a:tbl>
                  <a:tblPr firstRow="1" bandRow="1">
                    <a:tableStyleId>{7E9639D4-E3E2-4D34-9284-5A2195B3D0D7}</a:tableStyleId>
                  </a:tblPr>
                  <a:tblGrid>
                    <a:gridCol w="2709333">
                      <a:extLst>
                        <a:ext uri="{9D8B030D-6E8A-4147-A177-3AD203B41FA5}">
                          <a16:colId xmlns:a16="http://schemas.microsoft.com/office/drawing/2014/main" val="2428028003"/>
                        </a:ext>
                      </a:extLst>
                    </a:gridCol>
                    <a:gridCol w="2709333">
                      <a:extLst>
                        <a:ext uri="{9D8B030D-6E8A-4147-A177-3AD203B41FA5}">
                          <a16:colId xmlns:a16="http://schemas.microsoft.com/office/drawing/2014/main" val="1083529464"/>
                        </a:ext>
                      </a:extLst>
                    </a:gridCol>
                    <a:gridCol w="2709333">
                      <a:extLst>
                        <a:ext uri="{9D8B030D-6E8A-4147-A177-3AD203B41FA5}">
                          <a16:colId xmlns:a16="http://schemas.microsoft.com/office/drawing/2014/main" val="3457658192"/>
                        </a:ext>
                      </a:extLst>
                    </a:gridCol>
                  </a:tblGrid>
                  <a:tr h="370840">
                    <a:tc>
                      <a:txBody>
                        <a:bodyPr/>
                        <a:lstStyle/>
                        <a:p>
                          <a:r>
                            <a:rPr lang="en-GB" dirty="0"/>
                            <a:t>Block</a:t>
                          </a:r>
                        </a:p>
                      </a:txBody>
                      <a:tcPr/>
                    </a:tc>
                    <a:tc>
                      <a:txBody>
                        <a:bodyPr/>
                        <a:lstStyle/>
                        <a:p>
                          <a:r>
                            <a:rPr lang="en-GB" dirty="0"/>
                            <a:t>Columns</a:t>
                          </a:r>
                        </a:p>
                      </a:txBody>
                      <a:tcPr/>
                    </a:tc>
                    <a:tc>
                      <a:txBody>
                        <a:bodyPr/>
                        <a:lstStyle/>
                        <a:p>
                          <a:r>
                            <a:rPr lang="en-GB" dirty="0"/>
                            <a:t>Why</a:t>
                          </a:r>
                        </a:p>
                      </a:txBody>
                      <a:tcPr/>
                    </a:tc>
                    <a:extLst>
                      <a:ext uri="{0D108BD9-81ED-4DB2-BD59-A6C34878D82A}">
                        <a16:rowId xmlns:a16="http://schemas.microsoft.com/office/drawing/2014/main" val="2089931192"/>
                      </a:ext>
                    </a:extLst>
                  </a:tr>
                  <a:tr h="370840">
                    <a:tc>
                      <a:txBody>
                        <a:bodyPr/>
                        <a:lstStyle/>
                        <a:p>
                          <a:r>
                            <a:rPr lang="en-GB" dirty="0"/>
                            <a:t>Bias</a:t>
                          </a:r>
                        </a:p>
                      </a:txBody>
                      <a:tcPr>
                        <a:lnR w="12700" cap="flat" cmpd="sng" algn="ctr">
                          <a:solidFill>
                            <a:schemeClr val="tx1"/>
                          </a:solidFill>
                          <a:prstDash val="solid"/>
                          <a:round/>
                          <a:headEnd type="none" w="med" len="med"/>
                          <a:tailEnd type="none" w="med" len="med"/>
                        </a:lnR>
                      </a:tcPr>
                    </a:tc>
                    <a:tc>
                      <a:txBody>
                        <a:bodyPr/>
                        <a:lstStyle/>
                        <a:p>
                          <a:r>
                            <a:rPr lang="en-GB"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GB" dirty="0"/>
                            <a:t>The intercept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0</m:t>
                                  </m:r>
                                </m:sub>
                              </m:sSub>
                            </m:oMath>
                          </a14:m>
                          <a:endParaRPr lang="en-GB"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16965764"/>
                      </a:ext>
                    </a:extLst>
                  </a:tr>
                  <a:tr h="370840">
                    <a:tc>
                      <a:txBody>
                        <a:bodyPr/>
                        <a:lstStyle/>
                        <a:p>
                          <a:r>
                            <a:rPr lang="en-GB" dirty="0"/>
                            <a:t>Numeric</a:t>
                          </a:r>
                        </a:p>
                      </a:txBody>
                      <a:tcPr>
                        <a:lnR w="12700" cap="flat" cmpd="sng" algn="ctr">
                          <a:solidFill>
                            <a:schemeClr val="tx1"/>
                          </a:solidFill>
                          <a:prstDash val="solid"/>
                          <a:round/>
                          <a:headEnd type="none" w="med" len="med"/>
                          <a:tailEnd type="none" w="med" len="med"/>
                        </a:lnR>
                      </a:tcPr>
                    </a:tc>
                    <a:tc>
                      <a:txBody>
                        <a:bodyPr/>
                        <a:lstStyle/>
                        <a:p>
                          <a:r>
                            <a:rPr lang="en-GB" dirty="0"/>
                            <a:t>Temperature, rain, wind speed, gusts, visibility, CAPE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GB" dirty="0"/>
                            <a:t>Raw units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69002785"/>
                      </a:ext>
                    </a:extLst>
                  </a:tr>
                  <a:tr h="370840">
                    <a:tc>
                      <a:txBody>
                        <a:bodyPr/>
                        <a:lstStyle/>
                        <a:p>
                          <a:r>
                            <a:rPr lang="en-GB" dirty="0"/>
                            <a:t>Wind direction</a:t>
                          </a:r>
                        </a:p>
                      </a:txBody>
                      <a:tcPr>
                        <a:lnR w="12700" cap="flat" cmpd="sng" algn="ctr">
                          <a:solidFill>
                            <a:schemeClr val="tx1"/>
                          </a:solidFill>
                          <a:prstDash val="solid"/>
                          <a:round/>
                          <a:headEnd type="none" w="med" len="med"/>
                          <a:tailEnd type="none" w="med" len="med"/>
                        </a:lnR>
                      </a:tcPr>
                    </a:tc>
                    <a:tc>
                      <a:txBody>
                        <a:bodyPr/>
                        <a:lstStyle/>
                        <a:p>
                          <a:pPr/>
                          <a14:m>
                            <m:oMathPara xmlns:m="http://schemas.openxmlformats.org/officeDocument/2006/math">
                              <m:oMathParaPr>
                                <m:jc m:val="left"/>
                              </m:oMathParaPr>
                              <m:oMath>
                                <m:func>
                                  <m:funcPr>
                                    <m:ctrlPr>
                                      <a:rPr lang="en-GB" b="0" i="0" smtClean="0">
                                        <a:latin typeface="Cambria Math" panose="02040503050406030204" pitchFamily="18" charset="0"/>
                                      </a:rPr>
                                    </m:ctrlPr>
                                  </m:funcPr>
                                  <m:fName>
                                    <m:r>
                                      <m:rPr>
                                        <m:sty m:val="p"/>
                                      </m:rPr>
                                      <a:rPr lang="en-GB" b="0" i="0" smtClean="0">
                                        <a:latin typeface="Cambria Math" panose="02040503050406030204" pitchFamily="18" charset="0"/>
                                      </a:rPr>
                                      <m:t>sin</m:t>
                                    </m:r>
                                  </m:fName>
                                  <m:e>
                                    <m:r>
                                      <a:rPr lang="en-GB" b="0" i="1" smtClean="0">
                                        <a:latin typeface="Cambria Math" panose="02040503050406030204" pitchFamily="18" charset="0"/>
                                        <a:ea typeface="Cambria Math" panose="02040503050406030204" pitchFamily="18" charset="0"/>
                                      </a:rPr>
                                      <m:t>𝜃</m:t>
                                    </m:r>
                                  </m:e>
                                </m:func>
                                <m:r>
                                  <a:rPr lang="en-GB" b="0" i="1" smtClean="0">
                                    <a:latin typeface="Cambria Math" panose="02040503050406030204" pitchFamily="18" charset="0"/>
                                  </a:rPr>
                                  <m:t>, </m:t>
                                </m:r>
                                <m:func>
                                  <m:funcPr>
                                    <m:ctrlPr>
                                      <a:rPr lang="en-GB" b="0" i="0" smtClean="0">
                                        <a:latin typeface="Cambria Math" panose="02040503050406030204" pitchFamily="18" charset="0"/>
                                      </a:rPr>
                                    </m:ctrlPr>
                                  </m:funcPr>
                                  <m:fName>
                                    <m:r>
                                      <m:rPr>
                                        <m:sty m:val="p"/>
                                      </m:rPr>
                                      <a:rPr lang="en-GB" b="0" i="0" smtClean="0">
                                        <a:latin typeface="Cambria Math" panose="02040503050406030204" pitchFamily="18" charset="0"/>
                                      </a:rPr>
                                      <m:t>cos</m:t>
                                    </m:r>
                                  </m:fName>
                                  <m:e>
                                    <m:r>
                                      <a:rPr lang="en-GB" b="0" i="1" smtClean="0">
                                        <a:latin typeface="Cambria Math" panose="02040503050406030204" pitchFamily="18" charset="0"/>
                                        <a:ea typeface="Cambria Math" panose="02040503050406030204" pitchFamily="18" charset="0"/>
                                      </a:rPr>
                                      <m:t>𝜃</m:t>
                                    </m:r>
                                  </m:e>
                                </m:func>
                              </m:oMath>
                            </m:oMathPara>
                          </a14:m>
                          <a:endParaRPr lang="en-GB"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GB" dirty="0"/>
                            <a:t>Circular: </a:t>
                          </a:r>
                          <a14:m>
                            <m:oMath xmlns:m="http://schemas.openxmlformats.org/officeDocument/2006/math">
                              <m:r>
                                <a:rPr lang="en-GB" b="0" i="1" smtClean="0">
                                  <a:latin typeface="Cambria Math" panose="02040503050406030204" pitchFamily="18" charset="0"/>
                                </a:rPr>
                                <m:t>0</m:t>
                              </m:r>
                              <m:r>
                                <a:rPr lang="en-GB" b="0" i="1" smtClean="0">
                                  <a:latin typeface="Cambria Math" panose="02040503050406030204" pitchFamily="18" charset="0"/>
                                  <a:ea typeface="Cambria Math" panose="02040503050406030204" pitchFamily="18" charset="0"/>
                                </a:rPr>
                                <m:t>°</m:t>
                              </m:r>
                            </m:oMath>
                          </a14:m>
                          <a:r>
                            <a:rPr lang="en-GB" dirty="0"/>
                            <a:t> to </a:t>
                          </a:r>
                          <a14:m>
                            <m:oMath xmlns:m="http://schemas.openxmlformats.org/officeDocument/2006/math">
                              <m:r>
                                <a:rPr lang="en-GB" b="0" i="1" smtClean="0">
                                  <a:latin typeface="Cambria Math" panose="02040503050406030204" pitchFamily="18" charset="0"/>
                                </a:rPr>
                                <m:t>359</m:t>
                              </m:r>
                              <m:r>
                                <a:rPr lang="en-GB" b="0" i="1" smtClean="0">
                                  <a:latin typeface="Cambria Math" panose="02040503050406030204" pitchFamily="18" charset="0"/>
                                  <a:ea typeface="Cambria Math" panose="02040503050406030204" pitchFamily="18" charset="0"/>
                                </a:rPr>
                                <m:t>°</m:t>
                              </m:r>
                            </m:oMath>
                          </a14:m>
                          <a:endParaRPr lang="en-GB"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07063813"/>
                      </a:ext>
                    </a:extLst>
                  </a:tr>
                  <a:tr h="370840">
                    <a:tc>
                      <a:txBody>
                        <a:bodyPr/>
                        <a:lstStyle/>
                        <a:p>
                          <a:r>
                            <a:rPr lang="en-GB" dirty="0"/>
                            <a:t>WMO weather code</a:t>
                          </a:r>
                        </a:p>
                      </a:txBody>
                      <a:tcPr>
                        <a:lnR w="12700" cap="flat" cmpd="sng" algn="ctr">
                          <a:solidFill>
                            <a:schemeClr val="tx1"/>
                          </a:solidFill>
                          <a:prstDash val="solid"/>
                          <a:round/>
                          <a:headEnd type="none" w="med" len="med"/>
                          <a:tailEnd type="none" w="med" len="med"/>
                        </a:lnR>
                      </a:tcPr>
                    </a:tc>
                    <a:tc>
                      <a:txBody>
                        <a:bodyPr/>
                        <a:lstStyle/>
                        <a:p>
                          <a:r>
                            <a:rPr lang="en-GB" dirty="0"/>
                            <a:t>One-hot, </a:t>
                          </a:r>
                          <a:r>
                            <a:rPr lang="en-GB" b="1" dirty="0"/>
                            <a:t>reference = 0 </a:t>
                          </a:r>
                          <a:r>
                            <a:rPr lang="en-GB" dirty="0"/>
                            <a:t>(clear sky) dropped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GB" dirty="0"/>
                            <a:t>One column dropped to eliminate linear dependence</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01334437"/>
                      </a:ext>
                    </a:extLst>
                  </a:tr>
                  <a:tr h="370840">
                    <a:tc>
                      <a:txBody>
                        <a:bodyPr/>
                        <a:lstStyle/>
                        <a:p>
                          <a:r>
                            <a:rPr lang="en-GB" dirty="0"/>
                            <a:t>Previous flag</a:t>
                          </a:r>
                        </a:p>
                      </a:txBody>
                      <a:tcPr>
                        <a:lnR w="12700" cap="flat" cmpd="sng" algn="ctr">
                          <a:solidFill>
                            <a:schemeClr val="tx1"/>
                          </a:solidFill>
                          <a:prstDash val="solid"/>
                          <a:round/>
                          <a:headEnd type="none" w="med" len="med"/>
                          <a:tailEnd type="none" w="med" len="med"/>
                        </a:lnR>
                      </a:tcPr>
                    </a:tc>
                    <a:tc>
                      <a:txBody>
                        <a:bodyPr/>
                        <a:lstStyle/>
                        <a:p>
                          <a:r>
                            <a:rPr lang="en-GB" dirty="0"/>
                            <a:t>One-hot, </a:t>
                          </a:r>
                          <a:r>
                            <a:rPr lang="en-GB" b="1" dirty="0"/>
                            <a:t>reference = green</a:t>
                          </a:r>
                          <a:r>
                            <a:rPr lang="en-GB" dirty="0"/>
                            <a:t> dropped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GB" dirty="0"/>
                            <a:t>One column dropped to eliminate linear dependence</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65717408"/>
                      </a:ext>
                    </a:extLst>
                  </a:tr>
                </a:tbl>
              </a:graphicData>
            </a:graphic>
          </p:graphicFrame>
        </mc:Choice>
        <mc:Fallback>
          <p:graphicFrame>
            <p:nvGraphicFramePr>
              <p:cNvPr id="4" name="Table 3">
                <a:extLst>
                  <a:ext uri="{FF2B5EF4-FFF2-40B4-BE49-F238E27FC236}">
                    <a16:creationId xmlns:a16="http://schemas.microsoft.com/office/drawing/2014/main" id="{2784066E-E31E-8A1E-0145-3705AAA18EF1}"/>
                  </a:ext>
                </a:extLst>
              </p:cNvPr>
              <p:cNvGraphicFramePr>
                <a:graphicFrameLocks noGrp="1"/>
              </p:cNvGraphicFramePr>
              <p:nvPr>
                <p:extLst>
                  <p:ext uri="{D42A27DB-BD31-4B8C-83A1-F6EECF244321}">
                    <p14:modId xmlns:p14="http://schemas.microsoft.com/office/powerpoint/2010/main" val="2823422426"/>
                  </p:ext>
                </p:extLst>
              </p:nvPr>
            </p:nvGraphicFramePr>
            <p:xfrm>
              <a:off x="948267" y="2480733"/>
              <a:ext cx="8127999" cy="3855720"/>
            </p:xfrm>
            <a:graphic>
              <a:graphicData uri="http://schemas.openxmlformats.org/drawingml/2006/table">
                <a:tbl>
                  <a:tblPr firstRow="1" bandRow="1">
                    <a:tableStyleId>{7E9639D4-E3E2-4D34-9284-5A2195B3D0D7}</a:tableStyleId>
                  </a:tblPr>
                  <a:tblGrid>
                    <a:gridCol w="2709333">
                      <a:extLst>
                        <a:ext uri="{9D8B030D-6E8A-4147-A177-3AD203B41FA5}">
                          <a16:colId xmlns:a16="http://schemas.microsoft.com/office/drawing/2014/main" val="2428028003"/>
                        </a:ext>
                      </a:extLst>
                    </a:gridCol>
                    <a:gridCol w="2709333">
                      <a:extLst>
                        <a:ext uri="{9D8B030D-6E8A-4147-A177-3AD203B41FA5}">
                          <a16:colId xmlns:a16="http://schemas.microsoft.com/office/drawing/2014/main" val="1083529464"/>
                        </a:ext>
                      </a:extLst>
                    </a:gridCol>
                    <a:gridCol w="2709333">
                      <a:extLst>
                        <a:ext uri="{9D8B030D-6E8A-4147-A177-3AD203B41FA5}">
                          <a16:colId xmlns:a16="http://schemas.microsoft.com/office/drawing/2014/main" val="3457658192"/>
                        </a:ext>
                      </a:extLst>
                    </a:gridCol>
                  </a:tblGrid>
                  <a:tr h="370840">
                    <a:tc>
                      <a:txBody>
                        <a:bodyPr/>
                        <a:lstStyle/>
                        <a:p>
                          <a:r>
                            <a:rPr lang="en-GB" dirty="0"/>
                            <a:t>Block</a:t>
                          </a:r>
                        </a:p>
                      </a:txBody>
                      <a:tcPr/>
                    </a:tc>
                    <a:tc>
                      <a:txBody>
                        <a:bodyPr/>
                        <a:lstStyle/>
                        <a:p>
                          <a:r>
                            <a:rPr lang="en-GB" dirty="0"/>
                            <a:t>Columns</a:t>
                          </a:r>
                        </a:p>
                      </a:txBody>
                      <a:tcPr/>
                    </a:tc>
                    <a:tc>
                      <a:txBody>
                        <a:bodyPr/>
                        <a:lstStyle/>
                        <a:p>
                          <a:r>
                            <a:rPr lang="en-GB" dirty="0"/>
                            <a:t>Why</a:t>
                          </a:r>
                        </a:p>
                      </a:txBody>
                      <a:tcPr/>
                    </a:tc>
                    <a:extLst>
                      <a:ext uri="{0D108BD9-81ED-4DB2-BD59-A6C34878D82A}">
                        <a16:rowId xmlns:a16="http://schemas.microsoft.com/office/drawing/2014/main" val="2089931192"/>
                      </a:ext>
                    </a:extLst>
                  </a:tr>
                  <a:tr h="370840">
                    <a:tc>
                      <a:txBody>
                        <a:bodyPr/>
                        <a:lstStyle/>
                        <a:p>
                          <a:r>
                            <a:rPr lang="en-GB" dirty="0"/>
                            <a:t>Bias</a:t>
                          </a:r>
                        </a:p>
                      </a:txBody>
                      <a:tcPr>
                        <a:lnR w="12700" cap="flat" cmpd="sng" algn="ctr">
                          <a:solidFill>
                            <a:schemeClr val="tx1"/>
                          </a:solidFill>
                          <a:prstDash val="solid"/>
                          <a:round/>
                          <a:headEnd type="none" w="med" len="med"/>
                          <a:tailEnd type="none" w="med" len="med"/>
                        </a:lnR>
                      </a:tcPr>
                    </a:tc>
                    <a:tc>
                      <a:txBody>
                        <a:bodyPr/>
                        <a:lstStyle/>
                        <a:p>
                          <a:r>
                            <a:rPr lang="en-GB"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blipFill>
                          <a:blip r:embed="rId2"/>
                          <a:stretch>
                            <a:fillRect l="-200000" t="-110345" r="-467" b="-875862"/>
                          </a:stretch>
                        </a:blipFill>
                      </a:tcPr>
                    </a:tc>
                    <a:extLst>
                      <a:ext uri="{0D108BD9-81ED-4DB2-BD59-A6C34878D82A}">
                        <a16:rowId xmlns:a16="http://schemas.microsoft.com/office/drawing/2014/main" val="916965764"/>
                      </a:ext>
                    </a:extLst>
                  </a:tr>
                  <a:tr h="914400">
                    <a:tc>
                      <a:txBody>
                        <a:bodyPr/>
                        <a:lstStyle/>
                        <a:p>
                          <a:r>
                            <a:rPr lang="en-GB" dirty="0"/>
                            <a:t>Numeric</a:t>
                          </a:r>
                        </a:p>
                      </a:txBody>
                      <a:tcPr>
                        <a:lnR w="12700" cap="flat" cmpd="sng" algn="ctr">
                          <a:solidFill>
                            <a:schemeClr val="tx1"/>
                          </a:solidFill>
                          <a:prstDash val="solid"/>
                          <a:round/>
                          <a:headEnd type="none" w="med" len="med"/>
                          <a:tailEnd type="none" w="med" len="med"/>
                        </a:lnR>
                      </a:tcPr>
                    </a:tc>
                    <a:tc>
                      <a:txBody>
                        <a:bodyPr/>
                        <a:lstStyle/>
                        <a:p>
                          <a:r>
                            <a:rPr lang="en-GB" dirty="0"/>
                            <a:t>Temperature, rain, wind speed, gusts, visibility, CAPE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GB" dirty="0"/>
                            <a:t>Raw units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69002785"/>
                      </a:ext>
                    </a:extLst>
                  </a:tr>
                  <a:tr h="370840">
                    <a:tc>
                      <a:txBody>
                        <a:bodyPr/>
                        <a:lstStyle/>
                        <a:p>
                          <a:r>
                            <a:rPr lang="en-GB" dirty="0"/>
                            <a:t>Wind direction</a:t>
                          </a:r>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2"/>
                          <a:stretch>
                            <a:fillRect l="-100939" t="-462069" r="-100939" b="-524138"/>
                          </a:stretch>
                        </a:blipFill>
                      </a:tcPr>
                    </a:tc>
                    <a:tc>
                      <a:txBody>
                        <a:bodyPr/>
                        <a:lstStyle/>
                        <a:p>
                          <a:endParaRPr lang="en-US"/>
                        </a:p>
                      </a:txBody>
                      <a:tcPr>
                        <a:lnL w="12700" cap="flat" cmpd="sng" algn="ctr">
                          <a:solidFill>
                            <a:schemeClr val="tx1"/>
                          </a:solidFill>
                          <a:prstDash val="solid"/>
                          <a:round/>
                          <a:headEnd type="none" w="med" len="med"/>
                          <a:tailEnd type="none" w="med" len="med"/>
                        </a:lnL>
                        <a:blipFill>
                          <a:blip r:embed="rId2"/>
                          <a:stretch>
                            <a:fillRect l="-200000" t="-462069" r="-467" b="-524138"/>
                          </a:stretch>
                        </a:blipFill>
                      </a:tcPr>
                    </a:tc>
                    <a:extLst>
                      <a:ext uri="{0D108BD9-81ED-4DB2-BD59-A6C34878D82A}">
                        <a16:rowId xmlns:a16="http://schemas.microsoft.com/office/drawing/2014/main" val="2607063813"/>
                      </a:ext>
                    </a:extLst>
                  </a:tr>
                  <a:tr h="914400">
                    <a:tc>
                      <a:txBody>
                        <a:bodyPr/>
                        <a:lstStyle/>
                        <a:p>
                          <a:r>
                            <a:rPr lang="en-GB" dirty="0"/>
                            <a:t>WMO weather code</a:t>
                          </a:r>
                        </a:p>
                      </a:txBody>
                      <a:tcPr>
                        <a:lnR w="12700" cap="flat" cmpd="sng" algn="ctr">
                          <a:solidFill>
                            <a:schemeClr val="tx1"/>
                          </a:solidFill>
                          <a:prstDash val="solid"/>
                          <a:round/>
                          <a:headEnd type="none" w="med" len="med"/>
                          <a:tailEnd type="none" w="med" len="med"/>
                        </a:lnR>
                      </a:tcPr>
                    </a:tc>
                    <a:tc>
                      <a:txBody>
                        <a:bodyPr/>
                        <a:lstStyle/>
                        <a:p>
                          <a:r>
                            <a:rPr lang="en-GB" dirty="0"/>
                            <a:t>One-hot, </a:t>
                          </a:r>
                          <a:r>
                            <a:rPr lang="en-GB" b="1" dirty="0"/>
                            <a:t>reference = 0 </a:t>
                          </a:r>
                          <a:r>
                            <a:rPr lang="en-GB" dirty="0"/>
                            <a:t>(clear sky) dropped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GB" dirty="0"/>
                            <a:t>One column dropped to eliminate linear dependence</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01334437"/>
                      </a:ext>
                    </a:extLst>
                  </a:tr>
                  <a:tr h="914400">
                    <a:tc>
                      <a:txBody>
                        <a:bodyPr/>
                        <a:lstStyle/>
                        <a:p>
                          <a:r>
                            <a:rPr lang="en-GB" dirty="0"/>
                            <a:t>Previous flag</a:t>
                          </a:r>
                        </a:p>
                      </a:txBody>
                      <a:tcPr>
                        <a:lnR w="12700" cap="flat" cmpd="sng" algn="ctr">
                          <a:solidFill>
                            <a:schemeClr val="tx1"/>
                          </a:solidFill>
                          <a:prstDash val="solid"/>
                          <a:round/>
                          <a:headEnd type="none" w="med" len="med"/>
                          <a:tailEnd type="none" w="med" len="med"/>
                        </a:lnR>
                      </a:tcPr>
                    </a:tc>
                    <a:tc>
                      <a:txBody>
                        <a:bodyPr/>
                        <a:lstStyle/>
                        <a:p>
                          <a:r>
                            <a:rPr lang="en-GB" dirty="0"/>
                            <a:t>One-hot, </a:t>
                          </a:r>
                          <a:r>
                            <a:rPr lang="en-GB" b="1" dirty="0"/>
                            <a:t>reference = green</a:t>
                          </a:r>
                          <a:r>
                            <a:rPr lang="en-GB" dirty="0"/>
                            <a:t> dropped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GB" dirty="0"/>
                            <a:t>One column dropped to eliminate linear dependence</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65717408"/>
                      </a:ext>
                    </a:extLst>
                  </a:tr>
                </a:tbl>
              </a:graphicData>
            </a:graphic>
          </p:graphicFrame>
        </mc:Fallback>
      </mc:AlternateContent>
    </p:spTree>
    <p:extLst>
      <p:ext uri="{BB962C8B-B14F-4D97-AF65-F5344CB8AC3E}">
        <p14:creationId xmlns:p14="http://schemas.microsoft.com/office/powerpoint/2010/main" val="2065900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4BD55-4AEB-EB48-E37A-9E7F8A2AF617}"/>
              </a:ext>
            </a:extLst>
          </p:cNvPr>
          <p:cNvSpPr>
            <a:spLocks noGrp="1"/>
          </p:cNvSpPr>
          <p:nvPr>
            <p:ph type="title"/>
          </p:nvPr>
        </p:nvSpPr>
        <p:spPr/>
        <p:txBody>
          <a:bodyPr/>
          <a:lstStyle/>
          <a:p>
            <a:r>
              <a:rPr lang="en-GB" dirty="0"/>
              <a:t>The method: least squares, one-vs-rest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CF4CB1-68CB-94F3-BA60-238A5CDDF097}"/>
                  </a:ext>
                </a:extLst>
              </p:cNvPr>
              <p:cNvSpPr>
                <a:spLocks noGrp="1"/>
              </p:cNvSpPr>
              <p:nvPr>
                <p:ph idx="1"/>
              </p:nvPr>
            </p:nvSpPr>
            <p:spPr/>
            <p:txBody>
              <a:bodyPr/>
              <a:lstStyle/>
              <a:p>
                <a:r>
                  <a:rPr lang="en-GB" dirty="0"/>
                  <a:t>For each colour </a:t>
                </a:r>
                <a:r>
                  <a:rPr lang="en-GB" i="1" dirty="0"/>
                  <a:t>k</a:t>
                </a:r>
                <a:r>
                  <a:rPr lang="en-GB" dirty="0"/>
                  <a:t>, define a 0/1 target </a:t>
                </a:r>
                <a:r>
                  <a:rPr lang="en-GB" i="1" dirty="0" err="1"/>
                  <a:t>y</a:t>
                </a:r>
                <a:r>
                  <a:rPr lang="en-GB" sz="1600" i="1" dirty="0" err="1"/>
                  <a:t>k</a:t>
                </a:r>
                <a:r>
                  <a:rPr lang="en-GB" i="1" dirty="0"/>
                  <a:t> </a:t>
                </a:r>
                <a:r>
                  <a:rPr lang="en-GB" dirty="0"/>
                  <a:t>(1 if the flag colour was k) and fit</a:t>
                </a:r>
                <a14:m>
                  <m:oMath xmlns:m="http://schemas.openxmlformats.org/officeDocument/2006/math">
                    <m:r>
                      <a:rPr lang="en-GB" b="0" i="0"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𝑘</m:t>
                        </m:r>
                      </m:sub>
                    </m:sSub>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𝑋</m:t>
                            </m:r>
                          </m:e>
                          <m:sup>
                            <m:r>
                              <a:rPr lang="en-GB" b="0" i="1" smtClean="0">
                                <a:latin typeface="Cambria Math" panose="02040503050406030204" pitchFamily="18" charset="0"/>
                              </a:rPr>
                              <m:t>𝑇</m:t>
                            </m:r>
                          </m:sup>
                        </m:sSup>
                        <m:r>
                          <a:rPr lang="en-GB" b="0" i="1" smtClean="0">
                            <a:latin typeface="Cambria Math" panose="02040503050406030204" pitchFamily="18" charset="0"/>
                          </a:rPr>
                          <m:t>𝑋</m:t>
                        </m:r>
                        <m:r>
                          <a:rPr lang="en-GB" b="0" i="1" smtClean="0">
                            <a:latin typeface="Cambria Math" panose="02040503050406030204" pitchFamily="18" charset="0"/>
                          </a:rPr>
                          <m:t>)</m:t>
                        </m:r>
                      </m:e>
                      <m:sup>
                        <m:r>
                          <a:rPr lang="en-GB" b="0" i="1" smtClean="0">
                            <a:latin typeface="Cambria Math" panose="02040503050406030204" pitchFamily="18" charset="0"/>
                          </a:rPr>
                          <m:t>−1</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𝑋</m:t>
                        </m:r>
                      </m:e>
                      <m:sup>
                        <m:r>
                          <a:rPr lang="en-GB" b="0" i="1" smtClean="0">
                            <a:latin typeface="Cambria Math" panose="02040503050406030204" pitchFamily="18" charset="0"/>
                          </a:rPr>
                          <m:t>𝑇</m:t>
                        </m:r>
                      </m:sup>
                    </m:sSup>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𝑘</m:t>
                        </m:r>
                      </m:sub>
                    </m:sSub>
                  </m:oMath>
                </a14:m>
                <a:endParaRPr lang="en-GB" dirty="0"/>
              </a:p>
              <a:p>
                <a:r>
                  <a:rPr lang="en-GB" dirty="0"/>
                  <a:t>By solving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𝑋</m:t>
                        </m:r>
                      </m:e>
                      <m:sup>
                        <m:r>
                          <a:rPr lang="en-GB" b="0" i="1" smtClean="0">
                            <a:latin typeface="Cambria Math" panose="02040503050406030204" pitchFamily="18" charset="0"/>
                          </a:rPr>
                          <m:t>𝑇</m:t>
                        </m:r>
                      </m:sup>
                    </m:sSup>
                    <m:r>
                      <a:rPr lang="en-GB" b="0" i="1" smtClean="0">
                        <a:latin typeface="Cambria Math" panose="02040503050406030204" pitchFamily="18" charset="0"/>
                      </a:rPr>
                      <m:t>𝑋</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𝑘</m:t>
                        </m:r>
                      </m:sub>
                    </m:sSub>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𝑋</m:t>
                        </m:r>
                      </m:e>
                      <m:sup>
                        <m:r>
                          <a:rPr lang="en-GB" b="0" i="1" smtClean="0">
                            <a:latin typeface="Cambria Math" panose="02040503050406030204" pitchFamily="18" charset="0"/>
                          </a:rPr>
                          <m:t>𝑇</m:t>
                        </m:r>
                      </m:sup>
                    </m:sSup>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𝑘</m:t>
                        </m:r>
                      </m:sub>
                    </m:sSub>
                  </m:oMath>
                </a14:m>
                <a:r>
                  <a:rPr lang="en-GB" dirty="0"/>
                  <a:t> with Gaussian elimination &amp; partial pivoting.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𝑋</m:t>
                        </m:r>
                      </m:e>
                      <m:sup>
                        <m:r>
                          <a:rPr lang="en-GB" b="0" i="1" smtClean="0">
                            <a:latin typeface="Cambria Math" panose="02040503050406030204" pitchFamily="18" charset="0"/>
                          </a:rPr>
                          <m:t>𝑇</m:t>
                        </m:r>
                      </m:sup>
                    </m:sSup>
                    <m:r>
                      <a:rPr lang="en-GB" b="0" i="1" smtClean="0">
                        <a:latin typeface="Cambria Math" panose="02040503050406030204" pitchFamily="18" charset="0"/>
                      </a:rPr>
                      <m:t>𝑋</m:t>
                    </m:r>
                  </m:oMath>
                </a14:m>
                <a:r>
                  <a:rPr lang="en-GB" dirty="0"/>
                  <a:t> is identical for every class, so fit builds it once</a:t>
                </a:r>
              </a:p>
              <a:p>
                <a:r>
                  <a:rPr lang="en-GB" dirty="0"/>
                  <a:t>Prediction: score every colour </a:t>
                </a:r>
                <a14:m>
                  <m:oMath xmlns:m="http://schemas.openxmlformats.org/officeDocument/2006/math">
                    <m:sSub>
                      <m:sSubPr>
                        <m:ctrlPr>
                          <a:rPr lang="en-GB" b="0" i="1" smtClean="0">
                            <a:latin typeface="Cambria Math" panose="02040503050406030204" pitchFamily="18" charset="0"/>
                          </a:rPr>
                        </m:ctrlPr>
                      </m:sSubPr>
                      <m:e>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𝑦</m:t>
                            </m:r>
                          </m:e>
                        </m:acc>
                      </m:e>
                      <m:sub>
                        <m:r>
                          <a:rPr lang="en-GB" b="0" i="1" smtClean="0">
                            <a:latin typeface="Cambria Math" panose="02040503050406030204" pitchFamily="18" charset="0"/>
                          </a:rPr>
                          <m:t>𝑘</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𝑘</m:t>
                        </m:r>
                      </m:sub>
                    </m:sSub>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oMath>
                </a14:m>
                <a:r>
                  <a:rPr lang="en-GB" dirty="0"/>
                  <a:t> and pick the largest</a:t>
                </a:r>
              </a:p>
              <a:p>
                <a:r>
                  <a:rPr lang="en-GB" dirty="0"/>
                  <a:t>Not one regression on colour = 0, 1, 2,… as that would force a spacing on colours that isn’t there, whereas one-vs-rest treats them as categories</a:t>
                </a:r>
              </a:p>
            </p:txBody>
          </p:sp>
        </mc:Choice>
        <mc:Fallback xmlns="">
          <p:sp>
            <p:nvSpPr>
              <p:cNvPr id="3" name="Content Placeholder 2">
                <a:extLst>
                  <a:ext uri="{FF2B5EF4-FFF2-40B4-BE49-F238E27FC236}">
                    <a16:creationId xmlns:a16="http://schemas.microsoft.com/office/drawing/2014/main" id="{EECF4CB1-68CB-94F3-BA60-238A5CDDF097}"/>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GB">
                    <a:noFill/>
                  </a:rPr>
                  <a:t> </a:t>
                </a:r>
              </a:p>
            </p:txBody>
          </p:sp>
        </mc:Fallback>
      </mc:AlternateContent>
    </p:spTree>
    <p:extLst>
      <p:ext uri="{BB962C8B-B14F-4D97-AF65-F5344CB8AC3E}">
        <p14:creationId xmlns:p14="http://schemas.microsoft.com/office/powerpoint/2010/main" val="1197118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The diagram illustrates a linear model with a test accuracy of 96.5%, and a categorical outcome distribution showing 0% for 'Always Green' and progressively increasing percentages up to 100%.&#10;&#10;AI-generated content may be incorrect.">
            <a:extLst>
              <a:ext uri="{FF2B5EF4-FFF2-40B4-BE49-F238E27FC236}">
                <a16:creationId xmlns:a16="http://schemas.microsoft.com/office/drawing/2014/main" id="{9FC302A9-E7F1-8F7E-92CE-A3B6EADB62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1643296"/>
            <a:ext cx="10905066" cy="3571407"/>
          </a:xfrm>
          <a:prstGeom prst="rect">
            <a:avLst/>
          </a:prstGeom>
        </p:spPr>
      </p:pic>
    </p:spTree>
    <p:extLst>
      <p:ext uri="{BB962C8B-B14F-4D97-AF65-F5344CB8AC3E}">
        <p14:creationId xmlns:p14="http://schemas.microsoft.com/office/powerpoint/2010/main" val="4027855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The image is a confusion matrix showing the distribution of predicted and actual colors (Green, Dark Blue, Amber, Red, Black) across different rows.&#10;&#10;AI-generated content may be incorrect.">
            <a:extLst>
              <a:ext uri="{FF2B5EF4-FFF2-40B4-BE49-F238E27FC236}">
                <a16:creationId xmlns:a16="http://schemas.microsoft.com/office/drawing/2014/main" id="{6083F1CF-71AB-2E85-067D-13F88C824F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96469" y="643466"/>
            <a:ext cx="5599062" cy="5571067"/>
          </a:xfrm>
          <a:prstGeom prst="rect">
            <a:avLst/>
          </a:prstGeom>
        </p:spPr>
      </p:pic>
    </p:spTree>
    <p:extLst>
      <p:ext uri="{BB962C8B-B14F-4D97-AF65-F5344CB8AC3E}">
        <p14:creationId xmlns:p14="http://schemas.microsoft.com/office/powerpoint/2010/main" val="2690430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A3B6C-81AC-224B-FB14-B2AD7D30A3E5}"/>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E9BAFAE4-1201-FC00-4236-1815E6DAA252}"/>
              </a:ext>
            </a:extLst>
          </p:cNvPr>
          <p:cNvSpPr>
            <a:spLocks noGrp="1"/>
          </p:cNvSpPr>
          <p:nvPr>
            <p:ph idx="1"/>
          </p:nvPr>
        </p:nvSpPr>
        <p:spPr/>
        <p:txBody>
          <a:bodyPr/>
          <a:lstStyle/>
          <a:p>
            <a:r>
              <a:rPr lang="en-GB" dirty="0"/>
              <a:t>Model: one-vs-rest linear regression, solved exactly with the normal equations</a:t>
            </a:r>
          </a:p>
          <a:p>
            <a:r>
              <a:rPr lang="en-GB" dirty="0"/>
              <a:t>Inputs: tomorrow’s weather and today’s flag</a:t>
            </a:r>
          </a:p>
          <a:p>
            <a:r>
              <a:rPr lang="en-GB" dirty="0"/>
              <a:t>Result: ~96% test accuracy vs ~68% for “always green”</a:t>
            </a:r>
          </a:p>
          <a:p>
            <a:endParaRPr lang="en-GB" dirty="0"/>
          </a:p>
        </p:txBody>
      </p:sp>
    </p:spTree>
    <p:extLst>
      <p:ext uri="{BB962C8B-B14F-4D97-AF65-F5344CB8AC3E}">
        <p14:creationId xmlns:p14="http://schemas.microsoft.com/office/powerpoint/2010/main" val="2547065562"/>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B77C2187EAB5E4F81084C265004C267" ma:contentTypeVersion="4" ma:contentTypeDescription="Create a new document." ma:contentTypeScope="" ma:versionID="7f28963fefe165fdfad7bbb31d19c94c">
  <xsd:schema xmlns:xsd="http://www.w3.org/2001/XMLSchema" xmlns:xs="http://www.w3.org/2001/XMLSchema" xmlns:p="http://schemas.microsoft.com/office/2006/metadata/properties" xmlns:ns3="d1459ac0-9fc9-4e07-a6b9-14252e2bb9e2" targetNamespace="http://schemas.microsoft.com/office/2006/metadata/properties" ma:root="true" ma:fieldsID="27ebe2a8d0e3ddb938022b5b1a0ca0c9" ns3:_="">
    <xsd:import namespace="d1459ac0-9fc9-4e07-a6b9-14252e2bb9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459ac0-9fc9-4e07-a6b9-14252e2bb9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DD9419-3BDE-43A8-A399-A9AE6D997C9C}">
  <ds:schemaRefs>
    <ds:schemaRef ds:uri="http://schemas.microsoft.com/sharepoint/v3/contenttype/forms"/>
  </ds:schemaRefs>
</ds:datastoreItem>
</file>

<file path=customXml/itemProps2.xml><?xml version="1.0" encoding="utf-8"?>
<ds:datastoreItem xmlns:ds="http://schemas.openxmlformats.org/officeDocument/2006/customXml" ds:itemID="{B68101BD-A84A-4BA0-B25E-E504C44FAC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459ac0-9fc9-4e07-a6b9-14252e2bb9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DA7EE3F-AEA7-4B87-B9BC-7D5D23B978D8}">
  <ds:schemaRefs>
    <ds:schemaRef ds:uri="http://purl.org/dc/dcmitype/"/>
    <ds:schemaRef ds:uri="http://schemas.microsoft.com/office/2006/metadata/properties"/>
    <ds:schemaRef ds:uri="d1459ac0-9fc9-4e07-a6b9-14252e2bb9e2"/>
    <ds:schemaRef ds:uri="http://purl.org/dc/elements/1.1/"/>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82</TotalTime>
  <Words>467</Words>
  <Application>Microsoft Macintosh PowerPoint</Application>
  <PresentationFormat>Widescreen</PresentationFormat>
  <Paragraphs>48</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Cambria Math</vt:lpstr>
      <vt:lpstr>Helvetica</vt:lpstr>
      <vt:lpstr>Office Theme</vt:lpstr>
      <vt:lpstr>Handmade orderbook</vt:lpstr>
      <vt:lpstr>Core design</vt:lpstr>
      <vt:lpstr>Specific prediction mechanics</vt:lpstr>
      <vt:lpstr>The Database </vt:lpstr>
      <vt:lpstr>DB Schema</vt:lpstr>
      <vt:lpstr>Predicting the Isis flag</vt:lpstr>
      <vt:lpstr>The data input</vt:lpstr>
      <vt:lpstr>PowerPoint Presentation</vt:lpstr>
      <vt:lpstr>Building the design matrix X</vt:lpstr>
      <vt:lpstr>The method: least squares, one-vs-rest</vt:lpstr>
      <vt:lpstr>PowerPoint Presentation</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Bean</dc:creator>
  <cp:lastModifiedBy>Hector Kennerley</cp:lastModifiedBy>
  <cp:revision>4</cp:revision>
  <dcterms:created xsi:type="dcterms:W3CDTF">2026-10-25T10:20:13Z</dcterms:created>
  <dcterms:modified xsi:type="dcterms:W3CDTF">2026-10-25T11:43:41Z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0x010100FB77C2187EAB5E4F81084C265004C267</vt:lpwstr>
  </property>
</Properties>
</file>